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Tomorrow" panose="020B0604020202020204" charset="0"/>
      <p:regular r:id="rId9"/>
    </p:embeddedFont>
  </p:embeddedFontLst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1902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717" y="1582460"/>
            <a:ext cx="5603558" cy="472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F0FCFF"/>
                </a:solidFill>
                <a:latin typeface="Tomorrow" panose="020B0604020202020204" charset="0"/>
                <a:ea typeface="Spline Sans Bold" pitchFamily="34" charset="-122"/>
                <a:cs typeface="Spline Sans Bold" pitchFamily="34" charset="-120"/>
              </a:rPr>
              <a:t>Routování a Navigace v Aplikaci</a:t>
            </a:r>
            <a:endParaRPr lang="en-US" sz="2950" dirty="0">
              <a:latin typeface="Tomorrow" panose="020B060402020202020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94717" y="2229922"/>
            <a:ext cx="7954566" cy="458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Tomorrow" panose="020B0604020202020204" charset="0"/>
                <a:ea typeface="Barlow" pitchFamily="34" charset="-122"/>
                <a:cs typeface="Barlow" pitchFamily="34" charset="-120"/>
              </a:rPr>
              <a:t>Zajistil jsem plynulý přechod mezi jednotlivými částmi aplikace a vylepšili uživatelský zážitek pomocí chytré navigace.</a:t>
            </a:r>
            <a:endParaRPr lang="en-US" sz="1300" dirty="0">
              <a:latin typeface="Tomorrow" panose="020B060402020202020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94717" y="2820353"/>
            <a:ext cx="7954566" cy="1197650"/>
          </a:xfrm>
          <a:prstGeom prst="roundRect">
            <a:avLst>
              <a:gd name="adj" fmla="val 9162"/>
            </a:avLst>
          </a:prstGeom>
          <a:solidFill>
            <a:srgbClr val="0A081B">
              <a:alpha val="75000"/>
            </a:srgbClr>
          </a:solidFill>
          <a:ln w="2286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cs-CZ">
              <a:latin typeface="Tomorrow" panose="020B060402020202020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71857" y="2820353"/>
            <a:ext cx="91440" cy="1197650"/>
          </a:xfrm>
          <a:prstGeom prst="roundRect">
            <a:avLst>
              <a:gd name="adj" fmla="val 278776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cs-CZ">
              <a:latin typeface="Tomorrow" panose="020B060402020202020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56059" y="3013115"/>
            <a:ext cx="3028117" cy="283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Tomorrow" panose="020B0604020202020204" charset="0"/>
                <a:ea typeface="Spline Sans Bold" pitchFamily="34" charset="-122"/>
                <a:cs typeface="Spline Sans Bold" pitchFamily="34" charset="-120"/>
              </a:rPr>
              <a:t>Propojení Seznamu a Detailu</a:t>
            </a:r>
            <a:endParaRPr lang="en-US" sz="1750" dirty="0">
              <a:latin typeface="Tomorrow" panose="020B060402020202020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56059" y="3366373"/>
            <a:ext cx="7500461" cy="458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Tomorrow" panose="020B0604020202020204" charset="0"/>
                <a:ea typeface="Barlow" pitchFamily="34" charset="-122"/>
                <a:cs typeface="Barlow" pitchFamily="34" charset="-120"/>
              </a:rPr>
              <a:t>Nyní můžete intuitivně kliknout na libovolný test v seznamu a aplikace vás přesměruje na jeho specifickou detailní stránku, identifikovanou unikátním ID.</a:t>
            </a:r>
            <a:endParaRPr lang="en-US" sz="1300" dirty="0">
              <a:latin typeface="Tomorrow" panose="020B060402020202020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94717" y="4134922"/>
            <a:ext cx="7954566" cy="1197650"/>
          </a:xfrm>
          <a:prstGeom prst="roundRect">
            <a:avLst>
              <a:gd name="adj" fmla="val 9162"/>
            </a:avLst>
          </a:prstGeom>
          <a:solidFill>
            <a:srgbClr val="0A081B">
              <a:alpha val="75000"/>
            </a:srgbClr>
          </a:solidFill>
          <a:ln w="22860">
            <a:solidFill>
              <a:srgbClr val="29DDDA"/>
            </a:solidFill>
            <a:prstDash val="solid"/>
          </a:ln>
        </p:spPr>
        <p:txBody>
          <a:bodyPr/>
          <a:lstStyle/>
          <a:p>
            <a:endParaRPr lang="cs-CZ">
              <a:latin typeface="Tomorrow" panose="020B060402020202020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71857" y="4134922"/>
            <a:ext cx="91440" cy="1197650"/>
          </a:xfrm>
          <a:prstGeom prst="roundRect">
            <a:avLst>
              <a:gd name="adj" fmla="val 278776"/>
            </a:avLst>
          </a:prstGeom>
          <a:solidFill>
            <a:srgbClr val="29DDDA"/>
          </a:solidFill>
          <a:ln/>
        </p:spPr>
        <p:txBody>
          <a:bodyPr/>
          <a:lstStyle/>
          <a:p>
            <a:endParaRPr lang="cs-CZ">
              <a:latin typeface="Tomorrow" panose="020B060402020202020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56059" y="4327684"/>
            <a:ext cx="2265878" cy="283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Tomorrow" panose="020B0604020202020204" charset="0"/>
                <a:ea typeface="Spline Sans Bold" pitchFamily="34" charset="-122"/>
                <a:cs typeface="Spline Sans Bold" pitchFamily="34" charset="-120"/>
              </a:rPr>
              <a:t>Inteligentní Sidebar</a:t>
            </a:r>
            <a:endParaRPr lang="en-US" sz="1750" dirty="0">
              <a:latin typeface="Tomorrow" panose="020B060402020202020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56059" y="4680942"/>
            <a:ext cx="7500461" cy="458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Tomorrow" panose="020B0604020202020204" charset="0"/>
                <a:ea typeface="Barlow" pitchFamily="34" charset="-122"/>
                <a:cs typeface="Barlow" pitchFamily="34" charset="-120"/>
              </a:rPr>
              <a:t>Ikony v postranním panelu se dynamicky rozsvěcují podle aktuální pozice uživatele v aplikaci. Navigační prvky jako Kalendář a Předměty nově aktivně přepínají mezi jednotlivými pohledy.</a:t>
            </a:r>
            <a:endParaRPr lang="en-US" sz="1300" dirty="0">
              <a:latin typeface="Tomorrow" panose="020B060402020202020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94717" y="5449491"/>
            <a:ext cx="7954566" cy="1197650"/>
          </a:xfrm>
          <a:prstGeom prst="roundRect">
            <a:avLst>
              <a:gd name="adj" fmla="val 9162"/>
            </a:avLst>
          </a:prstGeom>
          <a:solidFill>
            <a:srgbClr val="0A081B">
              <a:alpha val="75000"/>
            </a:srgbClr>
          </a:solidFill>
          <a:ln w="22860">
            <a:solidFill>
              <a:srgbClr val="37A7E7"/>
            </a:solidFill>
            <a:prstDash val="solid"/>
          </a:ln>
        </p:spPr>
        <p:txBody>
          <a:bodyPr/>
          <a:lstStyle/>
          <a:p>
            <a:endParaRPr lang="cs-CZ">
              <a:latin typeface="Tomorrow" panose="020B060402020202020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71857" y="5449491"/>
            <a:ext cx="91440" cy="1197650"/>
          </a:xfrm>
          <a:prstGeom prst="roundRect">
            <a:avLst>
              <a:gd name="adj" fmla="val 278776"/>
            </a:avLst>
          </a:prstGeom>
          <a:solidFill>
            <a:srgbClr val="37A7E7"/>
          </a:solidFill>
          <a:ln/>
        </p:spPr>
        <p:txBody>
          <a:bodyPr/>
          <a:lstStyle/>
          <a:p>
            <a:endParaRPr lang="cs-CZ">
              <a:latin typeface="Tomorrow" panose="020B060402020202020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56059" y="5642253"/>
            <a:ext cx="2265878" cy="283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Tomorrow" panose="020B0604020202020204" charset="0"/>
                <a:ea typeface="Spline Sans Bold" pitchFamily="34" charset="-122"/>
                <a:cs typeface="Spline Sans Bold" pitchFamily="34" charset="-120"/>
              </a:rPr>
              <a:t>Flexibilní Rozložení</a:t>
            </a:r>
            <a:endParaRPr lang="en-US" sz="1750" dirty="0">
              <a:latin typeface="Tomorrow" panose="020B060402020202020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56059" y="5995511"/>
            <a:ext cx="7500461" cy="458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Tomorrow" panose="020B0604020202020204" charset="0"/>
                <a:ea typeface="Barlow" pitchFamily="34" charset="-122"/>
                <a:cs typeface="Barlow" pitchFamily="34" charset="-120"/>
              </a:rPr>
              <a:t>Postranní panel a horní navigační lišta se automaticky skryjí na přihlašovací stránce, čímž zajišťují čisté a nerušené rozhraní pro autentizaci.</a:t>
            </a:r>
            <a:endParaRPr lang="en-US" sz="1300" dirty="0">
              <a:latin typeface="Tomorrow" panose="020B0604020202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9220" y="1091327"/>
            <a:ext cx="5979914" cy="451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00" b="1" dirty="0">
                <a:solidFill>
                  <a:srgbClr val="F0FCFF"/>
                </a:solidFill>
                <a:latin typeface="Tomorrow" panose="020B0604020202020204" charset="0"/>
                <a:ea typeface="Spline Sans Bold" pitchFamily="34" charset="-122"/>
                <a:cs typeface="Spline Sans Bold" pitchFamily="34" charset="-120"/>
              </a:rPr>
              <a:t>Přihlašovací a Registrační Formulář</a:t>
            </a:r>
            <a:endParaRPr lang="en-US" sz="2800" dirty="0">
              <a:latin typeface="Tomorrow" panose="020B06040202020202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329220" y="1757005"/>
            <a:ext cx="9971842" cy="215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Tomorrow" panose="020B0604020202020204" charset="0"/>
                <a:ea typeface="Barlow" pitchFamily="34" charset="-122"/>
                <a:cs typeface="Barlow" pitchFamily="34" charset="-120"/>
              </a:rPr>
              <a:t>Vyvinuli jsme robustní a uživatelsky přívětivé řešení pro autentizaci, které integruje přihlášení a registraci do jednoho elegantního komponentu.</a:t>
            </a:r>
            <a:endParaRPr lang="en-US" sz="1250" dirty="0">
              <a:latin typeface="Tomorrow" panose="020B06040202020202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329220" y="2694384"/>
            <a:ext cx="2447092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0FCFF"/>
                </a:solidFill>
                <a:latin typeface="Tomorrow" panose="020B0604020202020204" charset="0"/>
                <a:ea typeface="Spline Sans Bold" pitchFamily="34" charset="-122"/>
                <a:cs typeface="Spline Sans Bold" pitchFamily="34" charset="-120"/>
              </a:rPr>
              <a:t>Unifikovaný Komponent</a:t>
            </a:r>
            <a:endParaRPr lang="en-US" sz="1700" dirty="0">
              <a:latin typeface="Tomorrow" panose="020B06040202020202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329220" y="3072408"/>
            <a:ext cx="3232428" cy="862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Tomorrow" panose="020B0604020202020204" charset="0"/>
                <a:ea typeface="Barlow" pitchFamily="34" charset="-122"/>
                <a:cs typeface="Barlow" pitchFamily="34" charset="-120"/>
              </a:rPr>
              <a:t>Naše nové řešení spojuje funkcionalitu přihlášení a registrace do jednoho pokročilého komponentu, který umožňuje plynulé přepínání mezi oběma režimy.</a:t>
            </a:r>
            <a:endParaRPr lang="en-US" sz="1250" dirty="0">
              <a:latin typeface="Tomorrow" panose="020B060402020202020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329220" y="4042410"/>
            <a:ext cx="2832973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0FCFF"/>
                </a:solidFill>
                <a:latin typeface="Tomorrow" panose="020B0604020202020204" charset="0"/>
                <a:ea typeface="Spline Sans Bold" pitchFamily="34" charset="-122"/>
                <a:cs typeface="Spline Sans Bold" pitchFamily="34" charset="-120"/>
              </a:rPr>
              <a:t>Rozšířená Data pro Backend</a:t>
            </a:r>
            <a:endParaRPr lang="en-US" sz="1700" dirty="0">
              <a:latin typeface="Tomorrow" panose="020B06040202020202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329220" y="4420433"/>
            <a:ext cx="3232428" cy="862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Tomorrow" panose="020B0604020202020204" charset="0"/>
                <a:ea typeface="Barlow" pitchFamily="34" charset="-122"/>
                <a:cs typeface="Barlow" pitchFamily="34" charset="-120"/>
              </a:rPr>
              <a:t>Pro bezproblémovou registraci a správnou komunikaci s backendem jsme přidali povinná pole pro jméno a Role_ID. Tím je zajištěno, že backend obdrží všechny potřebné informace.</a:t>
            </a:r>
            <a:endParaRPr lang="en-US" sz="1250" dirty="0">
              <a:latin typeface="Tomorrow" panose="020B0604020202020204" charset="0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5746" y="2213491"/>
            <a:ext cx="6342817" cy="354008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573060" y="6154817"/>
            <a:ext cx="2728198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0FCFF"/>
                </a:solidFill>
                <a:latin typeface="Tomorrow" panose="020B0604020202020204" charset="0"/>
                <a:ea typeface="Spline Sans Bold" pitchFamily="34" charset="-122"/>
                <a:cs typeface="Spline Sans Bold" pitchFamily="34" charset="-120"/>
              </a:rPr>
              <a:t>Pokročilé Zpracování Chyb</a:t>
            </a:r>
            <a:endParaRPr lang="en-US" sz="1700" dirty="0">
              <a:latin typeface="Tomorrow" panose="020B060402020202020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573060" y="6586299"/>
            <a:ext cx="9728002" cy="431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Tomorrow" panose="020B0604020202020204" charset="0"/>
                <a:ea typeface="Barlow" pitchFamily="34" charset="-122"/>
                <a:cs typeface="Barlow" pitchFamily="34" charset="-120"/>
              </a:rPr>
              <a:t>V případě chybně zadaného hesla nebo jiných problémů s autentizací, aplikace nyní zobrazí jasné chybové hlášení v červeném boxu, namísto selhání celé operace.</a:t>
            </a:r>
            <a:endParaRPr lang="en-US" sz="1250" dirty="0">
              <a:latin typeface="Tomorrow" panose="020B060402020202020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2329220" y="5994321"/>
            <a:ext cx="22860" cy="1143833"/>
          </a:xfrm>
          <a:prstGeom prst="rect">
            <a:avLst/>
          </a:prstGeom>
          <a:solidFill>
            <a:srgbClr val="16FFBB"/>
          </a:solidFill>
          <a:ln/>
        </p:spPr>
        <p:txBody>
          <a:bodyPr/>
          <a:lstStyle/>
          <a:p>
            <a:endParaRPr lang="cs-CZ">
              <a:latin typeface="Tomorrow" panose="020B060402020202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122878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Tomorrow" panose="020B0604020202020204" charset="0"/>
                <a:ea typeface="Spline Sans Bold" pitchFamily="34" charset="-122"/>
                <a:cs typeface="Spline Sans Bold" pitchFamily="34" charset="-120"/>
              </a:rPr>
              <a:t>Načítání Dat z API</a:t>
            </a:r>
            <a:endParaRPr lang="en-US" sz="4300" dirty="0">
              <a:latin typeface="Tomorrow" panose="020B06040202020202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4037" y="2302431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Tomorrow" panose="020B0604020202020204" charset="0"/>
                <a:ea typeface="Barlow" pitchFamily="34" charset="-122"/>
                <a:cs typeface="Barlow" pitchFamily="34" charset="-120"/>
              </a:rPr>
              <a:t>Přešli jsme od statických dat k dynamickému načítání, abychom zajistili aktuálnost a relevanci obsahu.</a:t>
            </a:r>
            <a:endParaRPr lang="en-US" sz="1900" dirty="0">
              <a:latin typeface="Tomorrow" panose="020B060402020202020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37" y="2975134"/>
            <a:ext cx="3148370" cy="31483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259223" y="2975134"/>
            <a:ext cx="290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E0E4E6"/>
                </a:solidFill>
                <a:latin typeface="Tomorrow" panose="020B0604020202020204" charset="0"/>
                <a:ea typeface="Spline Sans Bold" pitchFamily="34" charset="-122"/>
                <a:cs typeface="Spline Sans Bold" pitchFamily="34" charset="-120"/>
              </a:rPr>
              <a:t>Autentizace Pomocí Tokenů</a:t>
            </a:r>
            <a:endParaRPr lang="en-US" sz="2550" dirty="0">
              <a:latin typeface="Tomorrow" panose="020B060402020202020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259223" y="3946207"/>
            <a:ext cx="2901672" cy="2765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Tomorrow" panose="020B0604020202020204" charset="0"/>
                <a:ea typeface="Barlow" pitchFamily="34" charset="-122"/>
                <a:cs typeface="Barlow" pitchFamily="34" charset="-120"/>
              </a:rPr>
              <a:t>Každý požadavek odeslaný na server nyní obsahuje unikátní JWT token v hlavičce. Tím je zaručena bezpečná identifikace uživatele a personalizace dat.</a:t>
            </a:r>
            <a:endParaRPr lang="en-US" sz="1900" dirty="0">
              <a:latin typeface="Tomorrow" panose="020B0604020202020204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9505" y="2975134"/>
            <a:ext cx="3148370" cy="31483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864691" y="2975134"/>
            <a:ext cx="290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E0E4E6"/>
                </a:solidFill>
                <a:latin typeface="Tomorrow" panose="020B0604020202020204" charset="0"/>
                <a:ea typeface="Spline Sans Bold" pitchFamily="34" charset="-122"/>
                <a:cs typeface="Spline Sans Bold" pitchFamily="34" charset="-120"/>
              </a:rPr>
              <a:t>Vizuální Indikace Načítání</a:t>
            </a:r>
            <a:endParaRPr lang="en-US" sz="2550" dirty="0">
              <a:latin typeface="Tomorrow" panose="020B060402020202020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10864691" y="3946207"/>
            <a:ext cx="2901672" cy="3160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Tomorrow" panose="020B0604020202020204" charset="0"/>
                <a:ea typeface="Barlow" pitchFamily="34" charset="-122"/>
                <a:cs typeface="Barlow" pitchFamily="34" charset="-120"/>
              </a:rPr>
              <a:t>Během stahování dat se na obrazovce zobrazuje animace načítání (loading spinner). To uživateli vizuálně signalizuje, že probíhá proces a aplikace reaguje, což zlepšuje celkový dojem z používání.</a:t>
            </a:r>
            <a:endParaRPr lang="en-US" sz="1900" dirty="0">
              <a:latin typeface="Tomorrow" panose="020B060402020202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31457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9373" y="219051"/>
            <a:ext cx="6431533" cy="310862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36752" y="3535918"/>
            <a:ext cx="6548557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Tomorrow" panose="020B0604020202020204" charset="0"/>
                <a:ea typeface="Spline Sans Bold" pitchFamily="34" charset="-122"/>
                <a:cs typeface="Spline Sans Bold" pitchFamily="34" charset="-120"/>
              </a:rPr>
              <a:t>Dashboard: Váš Domovský Displej</a:t>
            </a:r>
            <a:endParaRPr lang="en-US" sz="3200" dirty="0">
              <a:latin typeface="Tomorrow" panose="020B0604020202020204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1636752" y="4258508"/>
            <a:ext cx="11356777" cy="259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Tomorrow" panose="020B0604020202020204" charset="0"/>
                <a:ea typeface="Barlow" pitchFamily="34" charset="-122"/>
                <a:cs typeface="Barlow" pitchFamily="34" charset="-120"/>
              </a:rPr>
              <a:t>Váš nový dashboard nabízí personalizované prostředí s přehledem nadcházejících událostí, vše v souladu s originálním designem.</a:t>
            </a:r>
            <a:endParaRPr lang="en-US" sz="1450" dirty="0">
              <a:latin typeface="Tomorrow" panose="020B060402020202020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1636752" y="4812744"/>
            <a:ext cx="2793206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0FCFF"/>
                </a:solidFill>
                <a:latin typeface="Tomorrow" panose="020B0604020202020204" charset="0"/>
                <a:ea typeface="Spline Sans Bold" pitchFamily="34" charset="-122"/>
                <a:cs typeface="Spline Sans Bold" pitchFamily="34" charset="-120"/>
              </a:rPr>
              <a:t>Personalizované Uvítání</a:t>
            </a:r>
            <a:endParaRPr lang="en-US" sz="1900" dirty="0">
              <a:latin typeface="Tomorrow" panose="020B060402020202020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1636752" y="5260181"/>
            <a:ext cx="7223760" cy="518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Tomorrow" panose="020B0604020202020204" charset="0"/>
                <a:ea typeface="Barlow" pitchFamily="34" charset="-122"/>
                <a:cs typeface="Barlow" pitchFamily="34" charset="-120"/>
              </a:rPr>
              <a:t>Dashboard vás nyní vítá osobním pozdravem, který zahrnuje vaše jméno, dynamicky získané z databáze. Pocit exkluzivity a individualizace pro každého uživatele.</a:t>
            </a:r>
            <a:endParaRPr lang="en-US" sz="1450" dirty="0">
              <a:latin typeface="Tomorrow" panose="020B060402020202020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1636752" y="5917406"/>
            <a:ext cx="3978712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0FCFF"/>
                </a:solidFill>
                <a:latin typeface="Tomorrow" panose="020B0604020202020204" charset="0"/>
                <a:ea typeface="Spline Sans Bold" pitchFamily="34" charset="-122"/>
                <a:cs typeface="Spline Sans Bold" pitchFamily="34" charset="-120"/>
              </a:rPr>
              <a:t>Přehled "Nadcházejících" Událostí</a:t>
            </a:r>
            <a:endParaRPr lang="en-US" sz="1900" dirty="0">
              <a:latin typeface="Tomorrow" panose="020B060402020202020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1636752" y="6364843"/>
            <a:ext cx="7223760" cy="518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Tomorrow" panose="020B0604020202020204" charset="0"/>
                <a:ea typeface="Barlow" pitchFamily="34" charset="-122"/>
                <a:cs typeface="Barlow" pitchFamily="34" charset="-120"/>
              </a:rPr>
              <a:t>Šedý postranní panel byl implementován pro zobrazení nadcházejících testů. Inteligentně vypočítává a zobrazuje, „za kolik dní“ se daný test uskuteční, což pomáhá s plánováním.</a:t>
            </a:r>
            <a:endParaRPr lang="en-US" sz="1450" dirty="0">
              <a:latin typeface="Tomorrow" panose="020B0604020202020204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9186505" y="4673918"/>
            <a:ext cx="3947874" cy="2334220"/>
          </a:xfrm>
          <a:prstGeom prst="roundRect">
            <a:avLst>
              <a:gd name="adj" fmla="val 19038"/>
            </a:avLst>
          </a:prstGeom>
          <a:solidFill>
            <a:srgbClr val="16FFBB">
              <a:alpha val="75000"/>
            </a:srgbClr>
          </a:solidFill>
          <a:ln/>
        </p:spPr>
        <p:txBody>
          <a:bodyPr/>
          <a:lstStyle/>
          <a:p>
            <a:endParaRPr lang="cs-CZ">
              <a:latin typeface="Tomorrow" panose="020B060402020202020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9371648" y="4812744"/>
            <a:ext cx="2747962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Tomorrow" panose="020B0604020202020204" charset="0"/>
                <a:ea typeface="Spline Sans Bold" pitchFamily="34" charset="-122"/>
                <a:cs typeface="Spline Sans Bold" pitchFamily="34" charset="-120"/>
              </a:rPr>
              <a:t>Zachovaný Vizuální Styl</a:t>
            </a:r>
            <a:endParaRPr lang="en-US" sz="1900" dirty="0">
              <a:latin typeface="Tomorrow" panose="020B060402020202020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9371648" y="5260181"/>
            <a:ext cx="3577590" cy="1295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Tomorrow" panose="020B0604020202020204" charset="0"/>
                <a:ea typeface="Barlow" pitchFamily="34" charset="-122"/>
                <a:cs typeface="Barlow" pitchFamily="34" charset="-120"/>
              </a:rPr>
              <a:t>Při implementaci dashboardu jsme věnovali maximální pozornost zachování vašeho původního designu, včetně specifických gradientů a zaoblených rohů, pro konzistentní a estetický vzhled.</a:t>
            </a:r>
            <a:endParaRPr lang="en-US" sz="1450" dirty="0">
              <a:latin typeface="Tomorrow" panose="020B060402020202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29695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0547" y="122386"/>
            <a:ext cx="6369325" cy="311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79853" y="3314819"/>
            <a:ext cx="5618559" cy="510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Tomorrow" panose="020B0604020202020204" charset="0"/>
                <a:ea typeface="Spline Sans Bold" pitchFamily="34" charset="-122"/>
                <a:cs typeface="Spline Sans Bold" pitchFamily="34" charset="-120"/>
              </a:rPr>
              <a:t>Inteligentní Logika Kalendáře</a:t>
            </a:r>
            <a:endParaRPr lang="en-US" sz="3200" dirty="0">
              <a:latin typeface="Tomorrow" panose="020B0604020202020204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1679853" y="4030385"/>
            <a:ext cx="11270694" cy="256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Tomorrow" panose="020B0604020202020204" charset="0"/>
                <a:ea typeface="Barlow" pitchFamily="34" charset="-122"/>
                <a:cs typeface="Barlow" pitchFamily="34" charset="-120"/>
              </a:rPr>
              <a:t>Kalendář se stal plně funkčním a interaktivním nástrojem, který zjednodušuje správu vašich testů.</a:t>
            </a:r>
            <a:endParaRPr lang="en-US" sz="1400" dirty="0">
              <a:latin typeface="Tomorrow" panose="020B0604020202020204" charset="0"/>
            </a:endParaRPr>
          </a:p>
        </p:txBody>
      </p:sp>
      <p:sp>
        <p:nvSpPr>
          <p:cNvPr id="6" name="Shape 2"/>
          <p:cNvSpPr/>
          <p:nvPr/>
        </p:nvSpPr>
        <p:spPr>
          <a:xfrm>
            <a:off x="1679853" y="4440555"/>
            <a:ext cx="3665696" cy="2771061"/>
          </a:xfrm>
          <a:prstGeom prst="roundRect">
            <a:avLst>
              <a:gd name="adj" fmla="val 9947"/>
            </a:avLst>
          </a:prstGeom>
          <a:solidFill>
            <a:srgbClr val="0A081B"/>
          </a:solidFill>
          <a:ln w="2286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cs-CZ">
              <a:latin typeface="Tomorrow" panose="020B0604020202020204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1886426" y="4647128"/>
            <a:ext cx="551259" cy="551259"/>
          </a:xfrm>
          <a:prstGeom prst="roundRect">
            <a:avLst>
              <a:gd name="adj" fmla="val 16585826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cs-CZ">
              <a:latin typeface="Tomorrow" panose="020B0604020202020204" charset="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37993" y="4798695"/>
            <a:ext cx="248007" cy="24800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886426" y="5335072"/>
            <a:ext cx="2670215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0E4E6"/>
                </a:solidFill>
                <a:latin typeface="Tomorrow" panose="020B0604020202020204" charset="0"/>
                <a:ea typeface="Spline Sans Bold" pitchFamily="34" charset="-122"/>
                <a:cs typeface="Spline Sans Bold" pitchFamily="34" charset="-120"/>
              </a:rPr>
              <a:t>Přesné Počítání Měsíců</a:t>
            </a:r>
            <a:endParaRPr lang="en-US" sz="1900" dirty="0">
              <a:latin typeface="Tomorrow" panose="020B0604020202020204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1886426" y="5723334"/>
            <a:ext cx="3252549" cy="102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Tomorrow" panose="020B0604020202020204" charset="0"/>
                <a:ea typeface="Barlow" pitchFamily="34" charset="-122"/>
                <a:cs typeface="Barlow" pitchFamily="34" charset="-120"/>
              </a:rPr>
              <a:t>Kalendář již není jen statická tabulka. Nyní inteligentně rozpoznává počet dní v každém měsíci a správně určuje začátek týdne, což zajišťuje přesné zobrazení.</a:t>
            </a:r>
            <a:endParaRPr lang="en-US" sz="1400" dirty="0">
              <a:latin typeface="Tomorrow" panose="020B0604020202020204" charset="0"/>
            </a:endParaRPr>
          </a:p>
        </p:txBody>
      </p:sp>
      <p:sp>
        <p:nvSpPr>
          <p:cNvPr id="11" name="Shape 6"/>
          <p:cNvSpPr/>
          <p:nvPr/>
        </p:nvSpPr>
        <p:spPr>
          <a:xfrm>
            <a:off x="5482233" y="4440555"/>
            <a:ext cx="3665815" cy="2771061"/>
          </a:xfrm>
          <a:prstGeom prst="roundRect">
            <a:avLst>
              <a:gd name="adj" fmla="val 9947"/>
            </a:avLst>
          </a:prstGeom>
          <a:solidFill>
            <a:srgbClr val="0A081B"/>
          </a:solidFill>
          <a:ln w="22860">
            <a:solidFill>
              <a:srgbClr val="29DDDA"/>
            </a:solidFill>
            <a:prstDash val="solid"/>
          </a:ln>
        </p:spPr>
        <p:txBody>
          <a:bodyPr/>
          <a:lstStyle/>
          <a:p>
            <a:endParaRPr lang="cs-CZ">
              <a:latin typeface="Tomorrow" panose="020B0604020202020204" charset="0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5688806" y="4647128"/>
            <a:ext cx="551259" cy="551259"/>
          </a:xfrm>
          <a:prstGeom prst="roundRect">
            <a:avLst>
              <a:gd name="adj" fmla="val 16585826"/>
            </a:avLst>
          </a:prstGeom>
          <a:solidFill>
            <a:srgbClr val="29DDDA"/>
          </a:solidFill>
          <a:ln/>
        </p:spPr>
        <p:txBody>
          <a:bodyPr/>
          <a:lstStyle/>
          <a:p>
            <a:endParaRPr lang="cs-CZ">
              <a:latin typeface="Tomorrow" panose="020B0604020202020204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40373" y="4798695"/>
            <a:ext cx="248007" cy="24800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688806" y="5335072"/>
            <a:ext cx="2472809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0E4E6"/>
                </a:solidFill>
                <a:latin typeface="Tomorrow" panose="020B0604020202020204" charset="0"/>
                <a:ea typeface="Spline Sans Bold" pitchFamily="34" charset="-122"/>
                <a:cs typeface="Spline Sans Bold" pitchFamily="34" charset="-120"/>
              </a:rPr>
              <a:t>Interaktivní Navigace</a:t>
            </a:r>
            <a:endParaRPr lang="en-US" sz="1900" dirty="0">
              <a:latin typeface="Tomorrow" panose="020B0604020202020204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5688806" y="5723334"/>
            <a:ext cx="3252668" cy="1281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Tomorrow" panose="020B0604020202020204" charset="0"/>
                <a:ea typeface="Barlow" pitchFamily="34" charset="-122"/>
                <a:cs typeface="Barlow" pitchFamily="34" charset="-120"/>
              </a:rPr>
              <a:t>Můžete plynule listovat mezi měsíci dopředu i dozadu. Kalendář se automaticky přepočítá a zobrazí správné datumy, což umožňuje snadnou orientaci v čase.</a:t>
            </a:r>
            <a:endParaRPr lang="en-US" sz="1400" dirty="0">
              <a:latin typeface="Tomorrow" panose="020B0604020202020204" charset="0"/>
            </a:endParaRPr>
          </a:p>
        </p:txBody>
      </p:sp>
      <p:sp>
        <p:nvSpPr>
          <p:cNvPr id="16" name="Shape 10"/>
          <p:cNvSpPr/>
          <p:nvPr/>
        </p:nvSpPr>
        <p:spPr>
          <a:xfrm>
            <a:off x="9284732" y="4440555"/>
            <a:ext cx="3665815" cy="2771061"/>
          </a:xfrm>
          <a:prstGeom prst="roundRect">
            <a:avLst>
              <a:gd name="adj" fmla="val 9947"/>
            </a:avLst>
          </a:prstGeom>
          <a:solidFill>
            <a:srgbClr val="0A081B"/>
          </a:solidFill>
          <a:ln w="22860">
            <a:solidFill>
              <a:srgbClr val="37A7E7"/>
            </a:solidFill>
            <a:prstDash val="solid"/>
          </a:ln>
        </p:spPr>
        <p:txBody>
          <a:bodyPr/>
          <a:lstStyle/>
          <a:p>
            <a:endParaRPr lang="cs-CZ">
              <a:latin typeface="Tomorrow" panose="020B0604020202020204" charset="0"/>
            </a:endParaRPr>
          </a:p>
        </p:txBody>
      </p:sp>
      <p:sp>
        <p:nvSpPr>
          <p:cNvPr id="17" name="Shape 11"/>
          <p:cNvSpPr/>
          <p:nvPr/>
        </p:nvSpPr>
        <p:spPr>
          <a:xfrm>
            <a:off x="9491305" y="4647128"/>
            <a:ext cx="551259" cy="551259"/>
          </a:xfrm>
          <a:prstGeom prst="roundRect">
            <a:avLst>
              <a:gd name="adj" fmla="val 16585826"/>
            </a:avLst>
          </a:prstGeom>
          <a:solidFill>
            <a:srgbClr val="37A7E7"/>
          </a:solidFill>
          <a:ln/>
        </p:spPr>
        <p:txBody>
          <a:bodyPr/>
          <a:lstStyle/>
          <a:p>
            <a:endParaRPr lang="cs-CZ">
              <a:latin typeface="Tomorrow" panose="020B0604020202020204" charset="0"/>
            </a:endParaRPr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42872" y="4798695"/>
            <a:ext cx="248007" cy="248007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491305" y="5335072"/>
            <a:ext cx="2915364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0E4E6"/>
                </a:solidFill>
                <a:latin typeface="Tomorrow" panose="020B0604020202020204" charset="0"/>
                <a:ea typeface="Spline Sans Bold" pitchFamily="34" charset="-122"/>
                <a:cs typeface="Spline Sans Bold" pitchFamily="34" charset="-120"/>
              </a:rPr>
              <a:t>Vizuální Propojení s Testy</a:t>
            </a:r>
            <a:endParaRPr lang="en-US" sz="1900" dirty="0">
              <a:latin typeface="Tomorrow" panose="020B0604020202020204" charset="0"/>
            </a:endParaRPr>
          </a:p>
        </p:txBody>
      </p:sp>
      <p:sp>
        <p:nvSpPr>
          <p:cNvPr id="20" name="Text 13"/>
          <p:cNvSpPr/>
          <p:nvPr/>
        </p:nvSpPr>
        <p:spPr>
          <a:xfrm>
            <a:off x="9491305" y="5723334"/>
            <a:ext cx="3252668" cy="1281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Tomorrow" panose="020B0604020202020204" charset="0"/>
                <a:ea typeface="Barlow" pitchFamily="34" charset="-122"/>
                <a:cs typeface="Barlow" pitchFamily="34" charset="-120"/>
              </a:rPr>
              <a:t>Políčka v kalendáři se automaticky zabarví v ty dny, kdy máte v databázi naplánovaný test. To poskytuje rychlý vizuální přehled o vašich nadcházejících událostech.</a:t>
            </a:r>
            <a:endParaRPr lang="en-US" sz="1400" dirty="0">
              <a:latin typeface="Tomorrow" panose="020B060402020202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947261"/>
            <a:ext cx="6601063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Tomorrow" panose="020B0604020202020204" charset="0"/>
                <a:ea typeface="Spline Sans Bold" pitchFamily="34" charset="-122"/>
                <a:cs typeface="Spline Sans Bold" pitchFamily="34" charset="-120"/>
              </a:rPr>
              <a:t>TypeScript a Čistota Kódu</a:t>
            </a:r>
            <a:endParaRPr lang="en-US" sz="4300" dirty="0">
              <a:latin typeface="Tomorrow" panose="020B06040202020202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4037" y="2003346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Tomorrow" panose="020B0604020202020204" charset="0"/>
                <a:ea typeface="Barlow" pitchFamily="34" charset="-122"/>
                <a:cs typeface="Barlow" pitchFamily="34" charset="-120"/>
              </a:rPr>
              <a:t>Zlepšili jsme robustnost a udržovatelnost kódu prostřednictvím TypeScriptu a optimalizace struktury projektu.</a:t>
            </a:r>
            <a:endParaRPr lang="en-US" sz="1900" dirty="0">
              <a:latin typeface="Tomorrow" panose="020B06040202020202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64037" y="3046333"/>
            <a:ext cx="4136231" cy="4235887"/>
          </a:xfrm>
          <a:prstGeom prst="roundRect">
            <a:avLst>
              <a:gd name="adj" fmla="val 3537"/>
            </a:avLst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cs-CZ">
              <a:latin typeface="Tomorrow" panose="020B060402020202020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64037" y="3015853"/>
            <a:ext cx="4136231" cy="121920"/>
          </a:xfrm>
          <a:prstGeom prst="roundRect">
            <a:avLst>
              <a:gd name="adj" fmla="val 303750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cs-CZ">
              <a:latin typeface="Tomorrow" panose="020B060402020202020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561868" y="2676049"/>
            <a:ext cx="740569" cy="740569"/>
          </a:xfrm>
          <a:prstGeom prst="roundRect">
            <a:avLst>
              <a:gd name="adj" fmla="val 123473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cs-CZ">
              <a:latin typeface="Tomorrow" panose="020B06040202020202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84038" y="2861191"/>
            <a:ext cx="296228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Tomorrow" panose="020B060402020202020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2300" dirty="0">
              <a:latin typeface="Tomorrow" panose="020B06040202020202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1333" y="3663553"/>
            <a:ext cx="329184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E0E4E6"/>
                </a:solidFill>
                <a:latin typeface="Tomorrow" panose="020B0604020202020204" charset="0"/>
                <a:ea typeface="Spline Sans Bold" pitchFamily="34" charset="-122"/>
                <a:cs typeface="Spline Sans Bold" pitchFamily="34" charset="-120"/>
              </a:rPr>
              <a:t>Eliminace 'any' Typů</a:t>
            </a:r>
            <a:endParaRPr lang="en-US" sz="2550" dirty="0">
              <a:latin typeface="Tomorrow" panose="020B060402020202020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41333" y="4223147"/>
            <a:ext cx="3581638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Tomorrow" panose="020B0604020202020204" charset="0"/>
                <a:ea typeface="Barlow" pitchFamily="34" charset="-122"/>
                <a:cs typeface="Barlow" pitchFamily="34" charset="-120"/>
              </a:rPr>
              <a:t>Kód byl důkladně vyčištěn od nekonkrétních 'any' typů. Nyní používáme striktní interfaces pro data z backendu, což zvyšuje bezpečnost a přehlednost kódu.</a:t>
            </a:r>
            <a:endParaRPr lang="en-US" sz="1900" dirty="0">
              <a:latin typeface="Tomorrow" panose="020B060402020202020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247084" y="3046333"/>
            <a:ext cx="4136231" cy="4235887"/>
          </a:xfrm>
          <a:prstGeom prst="roundRect">
            <a:avLst>
              <a:gd name="adj" fmla="val 3537"/>
            </a:avLst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cs-CZ">
              <a:latin typeface="Tomorrow" panose="020B060402020202020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247084" y="3015853"/>
            <a:ext cx="4136231" cy="121920"/>
          </a:xfrm>
          <a:prstGeom prst="roundRect">
            <a:avLst>
              <a:gd name="adj" fmla="val 303750"/>
            </a:avLst>
          </a:prstGeom>
          <a:solidFill>
            <a:srgbClr val="29DDDA"/>
          </a:solidFill>
          <a:ln/>
        </p:spPr>
        <p:txBody>
          <a:bodyPr/>
          <a:lstStyle/>
          <a:p>
            <a:endParaRPr lang="cs-CZ">
              <a:latin typeface="Tomorrow" panose="020B060402020202020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944916" y="2676049"/>
            <a:ext cx="740569" cy="740569"/>
          </a:xfrm>
          <a:prstGeom prst="roundRect">
            <a:avLst>
              <a:gd name="adj" fmla="val 123473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cs-CZ">
              <a:latin typeface="Tomorrow" panose="020B060402020202020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167086" y="2861191"/>
            <a:ext cx="296228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Tomorrow" panose="020B060402020202020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2300" dirty="0">
              <a:latin typeface="Tomorrow" panose="020B060402020202020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524381" y="3663553"/>
            <a:ext cx="3571518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E0E4E6"/>
                </a:solidFill>
                <a:latin typeface="Tomorrow" panose="020B0604020202020204" charset="0"/>
                <a:ea typeface="Spline Sans Bold" pitchFamily="34" charset="-122"/>
                <a:cs typeface="Spline Sans Bold" pitchFamily="34" charset="-120"/>
              </a:rPr>
              <a:t>Standardizace Importů</a:t>
            </a:r>
            <a:endParaRPr lang="en-US" sz="2550" dirty="0">
              <a:latin typeface="Tomorrow" panose="020B060402020202020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524381" y="4223147"/>
            <a:ext cx="3581638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Tomorrow" panose="020B0604020202020204" charset="0"/>
                <a:ea typeface="Barlow" pitchFamily="34" charset="-122"/>
                <a:cs typeface="Barlow" pitchFamily="34" charset="-120"/>
              </a:rPr>
              <a:t>Cesty k souborům (např. mezi views a components) byly sjednoceny a organizovány pro lepší strukturu projektu a jednodušší navigaci v kódu.</a:t>
            </a:r>
            <a:endParaRPr lang="en-US" sz="1900" dirty="0">
              <a:latin typeface="Tomorrow" panose="020B060402020202020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630132" y="3046333"/>
            <a:ext cx="4136231" cy="4235887"/>
          </a:xfrm>
          <a:prstGeom prst="roundRect">
            <a:avLst>
              <a:gd name="adj" fmla="val 3537"/>
            </a:avLst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cs-CZ">
              <a:latin typeface="Tomorrow" panose="020B060402020202020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630132" y="3015853"/>
            <a:ext cx="4136231" cy="121920"/>
          </a:xfrm>
          <a:prstGeom prst="roundRect">
            <a:avLst>
              <a:gd name="adj" fmla="val 303750"/>
            </a:avLst>
          </a:prstGeom>
          <a:solidFill>
            <a:srgbClr val="37A7E7"/>
          </a:solidFill>
          <a:ln/>
        </p:spPr>
        <p:txBody>
          <a:bodyPr/>
          <a:lstStyle/>
          <a:p>
            <a:endParaRPr lang="cs-CZ">
              <a:latin typeface="Tomorrow" panose="020B060402020202020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1327963" y="2676049"/>
            <a:ext cx="740569" cy="740569"/>
          </a:xfrm>
          <a:prstGeom prst="roundRect">
            <a:avLst>
              <a:gd name="adj" fmla="val 123473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cs-CZ">
              <a:latin typeface="Tomorrow" panose="020B060402020202020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550134" y="2861191"/>
            <a:ext cx="296228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Tomorrow" panose="020B060402020202020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2300" dirty="0">
              <a:latin typeface="Tomorrow" panose="020B060402020202020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907429" y="3663553"/>
            <a:ext cx="35816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E0E4E6"/>
                </a:solidFill>
                <a:latin typeface="Tomorrow" panose="020B0604020202020204" charset="0"/>
                <a:ea typeface="Spline Sans Bold" pitchFamily="34" charset="-122"/>
                <a:cs typeface="Spline Sans Bold" pitchFamily="34" charset="-120"/>
              </a:rPr>
              <a:t>Integrace Lucide-react Ikon</a:t>
            </a:r>
            <a:endParaRPr lang="en-US" sz="2550" dirty="0">
              <a:latin typeface="Tomorrow" panose="020B060402020202020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907429" y="4634627"/>
            <a:ext cx="3581638" cy="2370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Tomorrow" panose="020B0604020202020204" charset="0"/>
                <a:ea typeface="Barlow" pitchFamily="34" charset="-122"/>
                <a:cs typeface="Barlow" pitchFamily="34" charset="-120"/>
              </a:rPr>
              <a:t>Všechny ikony (jako jsou knížky, hodiny, uživatelé) byly správně integrovány do rozložení pomocí knihovny Lucide-react, což zajišťuje jejich konzistentní a estetické zobrazení.</a:t>
            </a:r>
            <a:endParaRPr lang="en-US" sz="1900" dirty="0">
              <a:latin typeface="Tomorrow" panose="020B06040202020202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624</Words>
  <Application>Microsoft Office PowerPoint</Application>
  <PresentationFormat>Custom</PresentationFormat>
  <Paragraphs>55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Tomorrow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Matěj Noga</cp:lastModifiedBy>
  <cp:revision>3</cp:revision>
  <dcterms:created xsi:type="dcterms:W3CDTF">2026-03-01T17:13:36Z</dcterms:created>
  <dcterms:modified xsi:type="dcterms:W3CDTF">2026-03-01T17:20:56Z</dcterms:modified>
</cp:coreProperties>
</file>